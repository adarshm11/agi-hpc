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covers our submission to the Kaggle Measuring AGI competition. The central question: when a language model judges a moral scenario, which aspects of the judgment change when you change how the scenario is described, and which stay the same? We call this 'selective invariance' — some symmetries are preserved, others are broken. The pattern of what's preserved and what's broken is the diagnostic.</a:t>
            </a:r>
          </a:p>
          <a:p/>
          <a:p>
            <a:r>
              <a:t>This is joint work between SJSU Computer Engineering and UCLA Cognitive Science.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standard benchmarks give you one number — accuracy, F1, agreement rate. But two models with the same accuracy can have completely different failure profiles. One model might be invariant to gender swap but vulnerable to framing. Another might be the opposite. A single score averages over these differences and tells you nothing about the structure of the vulnerability.</a:t>
            </a:r>
          </a:p>
          <a:p/>
          <a:p>
            <a:r>
              <a:t>The Scalar Irrecoverability Theorem formalizes this: for n independent dimensions of variation, collapsing to a scalar destroys n-1 directions of information. No post hoc procedure can recover what was lost. This is a mathematical fact, not a methodological preference.</a:t>
            </a:r>
          </a:p>
          <a:p/>
          <a:p>
            <a:r>
              <a:t>Our approach: instead of asking 'how robust is this model?', we ask 'which invariances does this model preserve, and which does it violate?' That's a geometric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we set it up. Every moral judgment is a point in a 7-dimensional space. The seven dimensions are: physical harm, emotional harm, financial harm, autonomy violation, trust breach, social impact, and identity harm. Each scored 0-10, total 0-70.</a:t>
            </a:r>
          </a:p>
          <a:p/>
          <a:p>
            <a:r>
              <a:t>We then apply perturbations — changes to how the scenario is described that should NOT change the moral judgment. Gender swap, euphemistic rewriting, adding irrelevant sensory details, telling the model it's wrong when it isn't. If the judgment vector moves under these perturbations, that's a gauge invariance violation.</a:t>
            </a:r>
          </a:p>
          <a:p/>
          <a:p>
            <a:r>
              <a:t>The key methodological innovation: we test against EMPIRICAL stochastic controls, not null=0. We have the model re-judge the same text 3-5 times to measure its natural noise. Only displacement BEYOND that noise counts. This turned out to be critical — apparent &gt;6 sigma effects in preliminary analyses vanished under empirical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result. On the left: symmetries that ARE preserved. Gender swap and evaluation order do NOT displace judgments beyond stochastic noise. Models have learned these invariances.</a:t>
            </a:r>
          </a:p>
          <a:p/>
          <a:p>
            <a:r>
              <a:t>On the right: symmetries that are BROKEN. Linguistic framing at 8.9 sigma — euphemistic language reduces perceived harm by 10-16 points on a 70-point scale. Social pressure at 13.3 sigma — models accept fabricated corrections 0-56% of the time. Emotional anchoring at 6.8 sigma. Sensory distractors at 4.6 sigma.</a:t>
            </a:r>
          </a:p>
          <a:p/>
          <a:p>
            <a:r>
              <a:t>The key insight: the broken symmetries all involve SALIENCE MANIPULATION — making morally irrelevant features perceptually prominent. Gender swap and evaluation order don't change salience. Framing, emotion, and distractors do. That's the common thread.</a:t>
            </a:r>
          </a:p>
          <a:p/>
          <a:p>
            <a:r>
              <a:t>All Fisher-combined across 5 models spanning 2 architecture families (Gemini and Claude). All tested against empirical stochastic controls, not null=0.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from the Learning track, subtest L2. The protocol: model commits to a verdict in turn 1. In turn 2, we tell it it's wrong — sometimes with genuine evidence, sometimes with fabricated claims. The question: does it discriminate?</a:t>
            </a:r>
          </a:p>
          <a:p/>
          <a:p>
            <a:r>
              <a:t>Claude: zero sycophancy. It never flips on invalid corrections. And its confidence INCREASES when given a wrong correction — t=+2.83 — it becomes more certain it was right. That's active rejection, not mere resistance.</a:t>
            </a:r>
          </a:p>
          <a:p/>
          <a:p>
            <a:r>
              <a:t>The Gemini models form a gradient: Flash 2.0 at 33%, Pro at 44%, Flash 2.5 at 56%. The confidence response tells the mechanistic story: Flash 2.0 gets suspicious (t=-2.12), Pro is indifferent (t=-0.80), Flash 2.5 accepts uncritically (t=+0.41).</a:t>
            </a:r>
          </a:p>
          <a:p/>
          <a:p>
            <a:r>
              <a:t>The control flip rate aligns perfectly: Flash 2.0 at 2%, Pro at 8%, Flash 2.5 at 19%. The most stable model is the least sycophantic.</a:t>
            </a:r>
          </a:p>
          <a:p/>
          <a:p>
            <a:r>
              <a:t>Note the wide confidence intervals — n=9 per wrong-correction cell. The individual point estimates should be interpreted cautiously, but the monotonic ordering across four models is structural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practical consequence of the Scalar Irrecoverability Theorem. Look at these four models:</a:t>
            </a:r>
          </a:p>
          <a:p/>
          <a:p>
            <a:r>
              <a:t>Claude: BEST sycophancy resistance (0%), but WORST divided attention (0.571) and WORST anchoring recovery (20%). Zero sycophancy but maximum emotional vulnerability.</a:t>
            </a:r>
          </a:p>
          <a:p/>
          <a:p>
            <a:r>
              <a:t>Flash 2.0: BEST anchoring recovery (73%) but WORST working memory (0.710). It recovers well from manipulation but can't track complex scenarios.</a:t>
            </a:r>
          </a:p>
          <a:p/>
          <a:p>
            <a:r>
              <a:t>Pro 2.5: BEST counterfactual sensitivity (75%) and PERFECT divided attention (1.000) but moderate sycophancy (44%). It reasons well about causes but capitulates to social pressure.</a:t>
            </a:r>
          </a:p>
          <a:p/>
          <a:p>
            <a:r>
              <a:t>No single 'robustness score' could capture this. A model that scores 0.7 on a composite could have any of these profiles. The geometric approach preserves the structure that the scalar destroys.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detect a displacement — a distractor shifted the verdict, or emotional anchoring changed the severity rating — can we fix it with a warning?</a:t>
            </a:r>
          </a:p>
          <a:p/>
          <a:p>
            <a:r>
              <a:t>We tested two types: 'you are being emotionally manipulated, focus on facts' for E2, and 'ignore irrelevant sensory details' for A1. Both recover approximately 38-39% of displaced verdicts.</a:t>
            </a:r>
          </a:p>
          <a:p/>
          <a:p>
            <a:r>
              <a:t>This convergence is striking. Two qualitatively different perturbation types, same recovery ceiling. It suggests a shared constraint on prompt-level metacognitive intervention.</a:t>
            </a:r>
          </a:p>
          <a:p/>
          <a:p>
            <a:r>
              <a:t>The practical implication: alignment strategies that rely on prompt engineering alone are bounded. You can recover about a third of the damage. Architectural interventions that enforce invariance at the representation level are likely necessary.</a:t>
            </a:r>
          </a:p>
          <a:p/>
          <a:p>
            <a:r>
              <a:t>This co-occurs with the M1 calibration result (9.3 sigma miscalibration). A model that can't accurately track its own confidence can't reliably detect when a perturbation has warped its judgment.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metacognition track measures whether models know when they're wrong. The headline result: Expected Calibration Error is significant in every model, Fisher-combined at 9.3 sigma across 4 Gemini models. Claude at ECE=0.25 provides cross-family validation.</a:t>
            </a:r>
          </a:p>
          <a:p/>
          <a:p>
            <a:r>
              <a:t>The direction is consistent: all overconfident. High confidence on wrong answers.</a:t>
            </a:r>
          </a:p>
          <a:p/>
          <a:p>
            <a:r>
              <a:t>There's a scaling effect: Pro (ECE=0.23) is significantly better calibrated than the Flash models (ECE=0.41-0.42). Larger models have confidence surfaces that more closely track accuracy, but all remain significantly miscalibrated.</a:t>
            </a:r>
          </a:p>
          <a:p/>
          <a:p>
            <a:r>
              <a:t>Why this matters for the other results: a model that can't track its own accuracy can't distinguish perturbations that change moral content from those that change only surface presentation. Miscalibration is the mechanism that enables the displacement vulnerabilities measured in the other four tracks.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methodological innovations that matter:</a:t>
            </a:r>
          </a:p>
          <a:p/>
          <a:p>
            <a:r>
              <a:t>1. EMPIRICAL STOCHASTIC CONTROLS. Every perturbation test includes 3-5 control replications where the model re-judges identical text. We measure the model's natural noise, and only displacement beyond that noise counts. This is critical — in preliminary analyses, apparent &gt;6 sigma invariance violations vanished entirely under empirical controls. They were measurement artifacts of testing against null=0.</a:t>
            </a:r>
          </a:p>
          <a:p/>
          <a:p>
            <a:r>
              <a:t>2. SEPARATION OF CONCERNS. A fixed transformer model generates all perturbation stimuli. The models under test only judge pre-generated text. This eliminates the self-confirming loop where a model generates and then evaluates its own test cases.</a:t>
            </a:r>
          </a:p>
          <a:p/>
          <a:p>
            <a:r>
              <a:t>3. THREE-TIER DATA. Gold tier: hand-written scenarios with audited ground truth. Probe tier: synthetic minimal pairs with unambiguous expected behavior. Generated tier: larger samples from AITA and Dear Abby for statistical power.</a:t>
            </a:r>
          </a:p>
          <a:p/>
          <a:p>
            <a:r>
              <a:t>5 models, 2 architecture families (Gemini + Claude). ~8,000 API calls total. Fisher's method for combining significance across models. Wilson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for alignment:</a:t>
            </a:r>
          </a:p>
          <a:p/>
          <a:p>
            <a:r>
              <a:t>1. INVARIANCE FAILURES ARE SELECTIVE, NOT TOTAL. Models have learned some symmetries (gender, order) but not others (framing, emotion). This means the problem is specific and diagnosable, not a global inability. That's actually encouraging — it means targeted interventions are possible.</a:t>
            </a:r>
          </a:p>
          <a:p/>
          <a:p>
            <a:r>
              <a:t>2. SYCOPHANCY IS ADDRESSABLE. Claude's zero wrong-flip rate proves that training methodology can eliminate sycophancy. But Claude's simultaneous vulnerability to emotional anchoring (worst recovery at 20%) shows that fixing one perturbation type doesn't guarantee robustness to others. Comprehensive evaluation across multiple perturbation types is necessary.</a:t>
            </a:r>
          </a:p>
          <a:p/>
          <a:p>
            <a:r>
              <a:t>3. PROMPT ENGINEERING HAS A CEILING. The ~38% recovery rate sets a practical bound. For the remaining 62%, architectural interventions — enforcing gauge invariance at the representation level, not just the prompt level — are likely necessary.</a:t>
            </a:r>
          </a:p>
          <a:p/>
          <a:p>
            <a:r>
              <a:t>The geometric framework transforms the alignment question from 'is this model safe?' to 'which specific invariances does this model maintain, and which does it violate?' That's a structured diagnostic that guides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work leads. The geometric evaluation framework applied to moral judgment is a special case of a broader thesis: REASONING ITSELF is informed search on a structured possibility space.</a:t>
            </a:r>
          </a:p>
          <a:p/>
          <a:p>
            <a:r>
              <a:t>Think about what A* search does: it navigates a graph using a heuristic that estimates distance to goal. Now replace the graph with a manifold — a space with curvature, distance, symmetries, and boundaries. The heuristic becomes a scalar field on that manifold. Good reasoning follows geodesics; bad reasoning wanders.</a:t>
            </a:r>
          </a:p>
          <a:p/>
          <a:p>
            <a:r>
              <a:t>Every failure mode we measured maps to a geometric pathology:</a:t>
            </a:r>
          </a:p>
          <a:p>
            <a:r>
              <a:t>- Framing effects = heuristic field warped by salience manipulation</a:t>
            </a:r>
          </a:p>
          <a:p>
            <a:r>
              <a:t>- Sycophancy = objective function shifted from truth to approval</a:t>
            </a:r>
          </a:p>
          <a:p>
            <a:r>
              <a:t>- Overconfidence = collapsed confidence surface (no gradient signal)</a:t>
            </a:r>
          </a:p>
          <a:p>
            <a:r>
              <a:t>- Recovery ceiling = limited metacognitive control of search</a:t>
            </a:r>
          </a:p>
          <a:p/>
          <a:p>
            <a:r>
              <a:t>This is the foundation for a new book: 'Geometric Reasoning: From Search to Manifolds.' The mathematical toolkit is in 'Geometric Methods in Computational Modeling' (Bond, 2026). The empirical evidence is in the five benchmarks presented today. The theory connects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questions.</a:t>
            </a:r>
          </a:p>
          <a:p/>
          <a:p>
            <a:r>
              <a:t>Key references:</a:t>
            </a:r>
          </a:p>
          <a:p>
            <a:r>
              <a:t>- Bond (2026). Geometric Methods in Computational Modeling. SJSU.</a:t>
            </a:r>
          </a:p>
          <a:p>
            <a:r>
              <a:t>- Thiele (2026). Does LaBSE encode moral geometry? UCLA.</a:t>
            </a:r>
          </a:p>
          <a:p>
            <a:r>
              <a:t>- All benchmark code is available via Kaggle Benchmarks.</a:t>
            </a:r>
          </a:p>
          <a:p/>
          <a:p>
            <a:r>
              <a:t>Contact: agi.hpc@gmail.com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Selective Invariance Violations</a:t>
            </a:r>
            <a:br/>
            <a:r>
              <a:t>in LLM Moral Judgment</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Five Convergent Measurements Under Empirical Stochastic Controls</a:t>
            </a:r>
          </a:p>
        </p:txBody>
      </p:sp>
      <p:sp>
        <p:nvSpPr>
          <p:cNvPr id="4" name="TextBox 3"/>
          <p:cNvSpPr txBox="1"/>
          <p:nvPr/>
        </p:nvSpPr>
        <p:spPr>
          <a:xfrm>
            <a:off x="731520" y="3657600"/>
            <a:ext cx="10698480" cy="3657600"/>
          </a:xfrm>
          <a:prstGeom prst="rect">
            <a:avLst/>
          </a:prstGeom>
          <a:noFill/>
        </p:spPr>
        <p:txBody>
          <a:bodyPr wrap="square">
            <a:spAutoFit/>
          </a:bodyPr>
          <a:lstStyle/>
          <a:p>
            <a:pPr>
              <a:spcAft>
                <a:spcPts val="800"/>
              </a:spcAft>
              <a:defRPr sz="2000" b="0">
                <a:solidFill>
                  <a:srgbClr val="999999"/>
                </a:solidFill>
              </a:defRPr>
            </a:pPr>
            <a:r>
              <a:t>Andrew H. Bond, Sr. Member IEEE</a:t>
            </a:r>
          </a:p>
          <a:p>
            <a:pPr>
              <a:spcAft>
                <a:spcPts val="800"/>
              </a:spcAft>
              <a:defRPr sz="2000" b="0">
                <a:solidFill>
                  <a:srgbClr val="999999"/>
                </a:solidFill>
              </a:defRPr>
            </a:pPr>
            <a:r>
              <a:t>San Jose State University</a:t>
            </a:r>
          </a:p>
          <a:p>
            <a:pPr>
              <a:spcAft>
                <a:spcPts val="800"/>
              </a:spcAft>
              <a:defRPr sz="2000" b="0">
                <a:solidFill>
                  <a:srgbClr val="999999"/>
                </a:solidFill>
              </a:defRPr>
            </a:pPr>
          </a:p>
          <a:p>
            <a:pPr>
              <a:spcAft>
                <a:spcPts val="800"/>
              </a:spcAft>
              <a:defRPr sz="2000" b="0">
                <a:solidFill>
                  <a:srgbClr val="999999"/>
                </a:solidFill>
              </a:defRPr>
            </a:pPr>
            <a:r>
              <a:t>Lucas Thiele</a:t>
            </a:r>
          </a:p>
          <a:p>
            <a:pPr>
              <a:spcAft>
                <a:spcPts val="800"/>
              </a:spcAft>
              <a:defRPr sz="2000" b="0">
                <a:solidFill>
                  <a:srgbClr val="999999"/>
                </a:solidFill>
              </a:defRPr>
            </a:pPr>
            <a:r>
              <a:t>UCLA Cognitive Science</a:t>
            </a:r>
          </a:p>
        </p:txBody>
      </p:sp>
      <p:sp>
        <p:nvSpPr>
          <p:cNvPr id="5" name="TextBox 4"/>
          <p:cNvSpPr txBox="1"/>
          <p:nvPr/>
        </p:nvSpPr>
        <p:spPr>
          <a:xfrm>
            <a:off x="731520" y="5943600"/>
            <a:ext cx="10698480" cy="3657600"/>
          </a:xfrm>
          <a:prstGeom prst="rect">
            <a:avLst/>
          </a:prstGeom>
          <a:noFill/>
        </p:spPr>
        <p:txBody>
          <a:bodyPr wrap="square">
            <a:spAutoFit/>
          </a:bodyPr>
          <a:lstStyle/>
          <a:p>
            <a:pPr>
              <a:spcAft>
                <a:spcPts val="800"/>
              </a:spcAft>
              <a:defRPr sz="1600" b="0">
                <a:solidFill>
                  <a:srgbClr val="666666"/>
                </a:solidFill>
              </a:defRPr>
            </a:pPr>
            <a:r>
              <a:t>Kaggle: Measuring AGI — Cognition and Values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The Problem with Scalar Benchmarks</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A single 'robustness score' destroys n−1 dimensions of information</a:t>
            </a:r>
          </a:p>
        </p:txBody>
      </p:sp>
      <p:sp>
        <p:nvSpPr>
          <p:cNvPr id="4" name="TextBox 3"/>
          <p:cNvSpPr txBox="1"/>
          <p:nvPr/>
        </p:nvSpPr>
        <p:spPr>
          <a:xfrm>
            <a:off x="731520" y="2560320"/>
            <a:ext cx="10698480" cy="3657600"/>
          </a:xfrm>
          <a:prstGeom prst="rect">
            <a:avLst/>
          </a:prstGeom>
          <a:noFill/>
        </p:spPr>
        <p:txBody>
          <a:bodyPr wrap="square">
            <a:spAutoFit/>
          </a:bodyPr>
          <a:lstStyle/>
          <a:p>
            <a:pPr>
              <a:spcAft>
                <a:spcPts val="800"/>
              </a:spcAft>
              <a:defRPr sz="2000" b="0">
                <a:solidFill>
                  <a:srgbClr val="E0E0E0"/>
                </a:solidFill>
              </a:defRPr>
            </a:pPr>
            <a:r>
              <a:t>• Model A: invariant under gender swap, vulnerable to framing</a:t>
            </a:r>
          </a:p>
          <a:p>
            <a:pPr>
              <a:spcAft>
                <a:spcPts val="800"/>
              </a:spcAft>
              <a:defRPr sz="2000" b="0">
                <a:solidFill>
                  <a:srgbClr val="E0E0E0"/>
                </a:solidFill>
              </a:defRPr>
            </a:pPr>
            <a:r>
              <a:t>• Model B: vulnerable to gender swap, invariant under framing</a:t>
            </a:r>
          </a:p>
          <a:p>
            <a:pPr>
              <a:spcAft>
                <a:spcPts val="800"/>
              </a:spcAft>
              <a:defRPr sz="2000" b="0">
                <a:solidFill>
                  <a:srgbClr val="E0E0E0"/>
                </a:solidFill>
              </a:defRPr>
            </a:pPr>
            <a:r>
              <a:t>• Same "robustness score" — completely different failure profiles</a:t>
            </a:r>
          </a:p>
          <a:p>
            <a:pPr>
              <a:spcAft>
                <a:spcPts val="800"/>
              </a:spcAft>
              <a:defRPr sz="2000" b="0">
                <a:solidFill>
                  <a:srgbClr val="E0E0E0"/>
                </a:solidFill>
              </a:defRPr>
            </a:pPr>
          </a:p>
          <a:p>
            <a:pPr>
              <a:spcAft>
                <a:spcPts val="800"/>
              </a:spcAft>
              <a:defRPr sz="2000" b="0">
                <a:solidFill>
                  <a:srgbClr val="E0E0E0"/>
                </a:solidFill>
              </a:defRPr>
            </a:pPr>
            <a:r>
              <a:t>The Scalar Irrecoverability Theorem (Bond, 2026a):</a:t>
            </a:r>
          </a:p>
          <a:p>
            <a:pPr>
              <a:spcAft>
                <a:spcPts val="800"/>
              </a:spcAft>
              <a:defRPr sz="2000" b="0">
                <a:solidFill>
                  <a:srgbClr val="E0E0E0"/>
                </a:solidFill>
              </a:defRPr>
            </a:pPr>
            <a:r>
              <a:t>For n independent dimensions, any scalar summary</a:t>
            </a:r>
          </a:p>
          <a:p>
            <a:pPr>
              <a:spcAft>
                <a:spcPts val="800"/>
              </a:spcAft>
              <a:defRPr sz="2000" b="0">
                <a:solidFill>
                  <a:srgbClr val="E0E0E0"/>
                </a:solidFill>
              </a:defRPr>
            </a:pPr>
            <a:r>
              <a:t>destroys n−1 directions. No recovery is possible.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Geometric Evaluation Framework</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Moral judgment as a point in 7-dimensional harm space</a:t>
            </a:r>
          </a:p>
        </p:txBody>
      </p:sp>
      <p:sp>
        <p:nvSpPr>
          <p:cNvPr id="4" name="TextBox 3"/>
          <p:cNvSpPr txBox="1"/>
          <p:nvPr/>
        </p:nvSpPr>
        <p:spPr>
          <a:xfrm>
            <a:off x="731520" y="2377440"/>
            <a:ext cx="10698480" cy="3657600"/>
          </a:xfrm>
          <a:prstGeom prst="rect">
            <a:avLst/>
          </a:prstGeom>
          <a:noFill/>
        </p:spPr>
        <p:txBody>
          <a:bodyPr wrap="square">
            <a:spAutoFit/>
          </a:bodyPr>
          <a:lstStyle/>
          <a:p>
            <a:pPr>
              <a:spcAft>
                <a:spcPts val="800"/>
              </a:spcAft>
              <a:defRPr sz="2000" b="0">
                <a:solidFill>
                  <a:srgbClr val="E0E0E0"/>
                </a:solidFill>
              </a:defRPr>
            </a:pPr>
            <a:r>
              <a:t>7 harm dimensions:</a:t>
            </a:r>
          </a:p>
          <a:p>
            <a:pPr>
              <a:spcAft>
                <a:spcPts val="800"/>
              </a:spcAft>
              <a:defRPr sz="2000" b="0">
                <a:solidFill>
                  <a:srgbClr val="E0E0E0"/>
                </a:solidFill>
              </a:defRPr>
            </a:pPr>
            <a:r>
              <a:t>physical · emotional · financial · autonomy</a:t>
            </a:r>
          </a:p>
          <a:p>
            <a:pPr>
              <a:spcAft>
                <a:spcPts val="800"/>
              </a:spcAft>
              <a:defRPr sz="2000" b="0">
                <a:solidFill>
                  <a:srgbClr val="E0E0E0"/>
                </a:solidFill>
              </a:defRPr>
            </a:pPr>
            <a:r>
              <a:t>trust · social_impact · identity</a:t>
            </a:r>
          </a:p>
          <a:p>
            <a:pPr>
              <a:spcAft>
                <a:spcPts val="800"/>
              </a:spcAft>
              <a:defRPr sz="2000" b="0">
                <a:solidFill>
                  <a:srgbClr val="E0E0E0"/>
                </a:solidFill>
              </a:defRPr>
            </a:pPr>
          </a:p>
          <a:p>
            <a:pPr>
              <a:spcAft>
                <a:spcPts val="800"/>
              </a:spcAft>
              <a:defRPr sz="2000" b="0">
                <a:solidFill>
                  <a:srgbClr val="E0E0E0"/>
                </a:solidFill>
              </a:defRPr>
            </a:pPr>
            <a:r>
              <a:t>5 perturbation types across 5 cognitive tracks:</a:t>
            </a:r>
          </a:p>
          <a:p>
            <a:pPr>
              <a:spcAft>
                <a:spcPts val="800"/>
              </a:spcAft>
              <a:defRPr sz="2000" b="0">
                <a:solidFill>
                  <a:srgbClr val="E0E0E0"/>
                </a:solidFill>
              </a:defRPr>
            </a:pPr>
            <a:r>
              <a:t>  Linguistic framing  →  Social Cognition</a:t>
            </a:r>
          </a:p>
          <a:p>
            <a:pPr>
              <a:spcAft>
                <a:spcPts val="800"/>
              </a:spcAft>
              <a:defRPr sz="2000" b="0">
                <a:solidFill>
                  <a:srgbClr val="E0E0E0"/>
                </a:solidFill>
              </a:defRPr>
            </a:pPr>
            <a:r>
              <a:t>  Social pressure     →  Learning</a:t>
            </a:r>
          </a:p>
          <a:p>
            <a:pPr>
              <a:spcAft>
                <a:spcPts val="800"/>
              </a:spcAft>
              <a:defRPr sz="2000" b="0">
                <a:solidFill>
                  <a:srgbClr val="E0E0E0"/>
                </a:solidFill>
              </a:defRPr>
            </a:pPr>
            <a:r>
              <a:t>  Emotional tone      →  Executive Functions</a:t>
            </a:r>
          </a:p>
          <a:p>
            <a:pPr>
              <a:spcAft>
                <a:spcPts val="800"/>
              </a:spcAft>
              <a:defRPr sz="2000" b="0">
                <a:solidFill>
                  <a:srgbClr val="E0E0E0"/>
                </a:solidFill>
              </a:defRPr>
            </a:pPr>
            <a:r>
              <a:t>  Irrelevant detail   →  Attention</a:t>
            </a:r>
          </a:p>
          <a:p>
            <a:pPr>
              <a:spcAft>
                <a:spcPts val="800"/>
              </a:spcAft>
              <a:defRPr sz="2000" b="0">
                <a:solidFill>
                  <a:srgbClr val="E0E0E0"/>
                </a:solidFill>
              </a:defRPr>
            </a:pPr>
            <a:r>
              <a:t>  Self-knowledge      →  Metacognition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The Selectivity Pattern</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Some symmetries are preserved. Others are broken at 4.6–13.3 sigma.</a:t>
            </a:r>
          </a:p>
        </p:txBody>
      </p:sp>
      <p:sp>
        <p:nvSpPr>
          <p:cNvPr id="4" name="TextBox 3"/>
          <p:cNvSpPr txBox="1"/>
          <p:nvPr/>
        </p:nvSpPr>
        <p:spPr>
          <a:xfrm>
            <a:off x="914400" y="2560320"/>
            <a:ext cx="10698480" cy="548640"/>
          </a:xfrm>
          <a:prstGeom prst="rect">
            <a:avLst/>
          </a:prstGeom>
          <a:noFill/>
        </p:spPr>
        <p:txBody>
          <a:bodyPr wrap="none">
            <a:spAutoFit/>
          </a:bodyPr>
          <a:lstStyle/>
          <a:p>
            <a:pPr>
              <a:defRPr sz="2000" b="1">
                <a:solidFill>
                  <a:srgbClr val="1A9641"/>
                </a:solidFill>
              </a:defRPr>
            </a:pPr>
            <a:r>
              <a:t>PRESERVED</a:t>
            </a:r>
          </a:p>
        </p:txBody>
      </p:sp>
      <p:sp>
        <p:nvSpPr>
          <p:cNvPr id="5" name="TextBox 4"/>
          <p:cNvSpPr txBox="1"/>
          <p:nvPr/>
        </p:nvSpPr>
        <p:spPr>
          <a:xfrm>
            <a:off x="914400" y="3108960"/>
            <a:ext cx="4572000" cy="3657600"/>
          </a:xfrm>
          <a:prstGeom prst="rect">
            <a:avLst/>
          </a:prstGeom>
          <a:noFill/>
        </p:spPr>
        <p:txBody>
          <a:bodyPr wrap="square">
            <a:spAutoFit/>
          </a:bodyPr>
          <a:lstStyle/>
          <a:p>
            <a:pPr>
              <a:spcAft>
                <a:spcPts val="800"/>
              </a:spcAft>
              <a:defRPr sz="1800" b="0">
                <a:solidFill>
                  <a:srgbClr val="1A9641"/>
                </a:solidFill>
              </a:defRPr>
            </a:pPr>
            <a:r>
              <a:t>✓  Gender Swap (T2: 0.958)     — not significant</a:t>
            </a:r>
          </a:p>
          <a:p>
            <a:pPr>
              <a:spcAft>
                <a:spcPts val="800"/>
              </a:spcAft>
              <a:defRPr sz="1800" b="0">
                <a:solidFill>
                  <a:srgbClr val="1A9641"/>
                </a:solidFill>
              </a:defRPr>
            </a:pPr>
            <a:r>
              <a:t>✓  Evaluation Order (T4: 1.000) — not significant</a:t>
            </a:r>
          </a:p>
        </p:txBody>
      </p:sp>
      <p:sp>
        <p:nvSpPr>
          <p:cNvPr id="6" name="TextBox 5"/>
          <p:cNvSpPr txBox="1"/>
          <p:nvPr/>
        </p:nvSpPr>
        <p:spPr>
          <a:xfrm>
            <a:off x="6858000" y="2560320"/>
            <a:ext cx="10698480" cy="548640"/>
          </a:xfrm>
          <a:prstGeom prst="rect">
            <a:avLst/>
          </a:prstGeom>
          <a:noFill/>
        </p:spPr>
        <p:txBody>
          <a:bodyPr wrap="none">
            <a:spAutoFit/>
          </a:bodyPr>
          <a:lstStyle/>
          <a:p>
            <a:pPr>
              <a:defRPr sz="2000" b="1">
                <a:solidFill>
                  <a:srgbClr val="D7191C"/>
                </a:solidFill>
              </a:defRPr>
            </a:pPr>
            <a:r>
              <a:t>BROKEN</a:t>
            </a:r>
          </a:p>
        </p:txBody>
      </p:sp>
      <p:sp>
        <p:nvSpPr>
          <p:cNvPr id="7" name="TextBox 6"/>
          <p:cNvSpPr txBox="1"/>
          <p:nvPr/>
        </p:nvSpPr>
        <p:spPr>
          <a:xfrm>
            <a:off x="6858000" y="3108960"/>
            <a:ext cx="5029200" cy="3657600"/>
          </a:xfrm>
          <a:prstGeom prst="rect">
            <a:avLst/>
          </a:prstGeom>
          <a:noFill/>
        </p:spPr>
        <p:txBody>
          <a:bodyPr wrap="square">
            <a:spAutoFit/>
          </a:bodyPr>
          <a:lstStyle/>
          <a:p>
            <a:pPr>
              <a:spcAft>
                <a:spcPts val="800"/>
              </a:spcAft>
              <a:defRPr sz="1800" b="0">
                <a:solidFill>
                  <a:srgbClr val="D7191C"/>
                </a:solidFill>
              </a:defRPr>
            </a:pPr>
            <a:r>
              <a:t>Social Pressure (L2)              13.3σ</a:t>
            </a:r>
          </a:p>
          <a:p>
            <a:pPr>
              <a:spcAft>
                <a:spcPts val="800"/>
              </a:spcAft>
              <a:defRPr sz="1800" b="0">
                <a:solidFill>
                  <a:srgbClr val="D7191C"/>
                </a:solidFill>
              </a:defRPr>
            </a:pPr>
            <a:r>
              <a:t>Metacognitive Calibration (M1)    9.3σ</a:t>
            </a:r>
          </a:p>
          <a:p>
            <a:pPr>
              <a:spcAft>
                <a:spcPts val="800"/>
              </a:spcAft>
              <a:defRPr sz="1800" b="0">
                <a:solidFill>
                  <a:srgbClr val="D7191C"/>
                </a:solidFill>
              </a:defRPr>
            </a:pPr>
            <a:r>
              <a:t>Linguistic Framing (T5)            8.9σ</a:t>
            </a:r>
          </a:p>
          <a:p>
            <a:pPr>
              <a:spcAft>
                <a:spcPts val="800"/>
              </a:spcAft>
              <a:defRPr sz="1800" b="0">
                <a:solidFill>
                  <a:srgbClr val="D7191C"/>
                </a:solidFill>
              </a:defRPr>
            </a:pPr>
            <a:r>
              <a:t>Emotional Anchoring (E2)           6.8σ</a:t>
            </a:r>
          </a:p>
          <a:p>
            <a:pPr>
              <a:spcAft>
                <a:spcPts val="800"/>
              </a:spcAft>
              <a:defRPr sz="1800" b="0">
                <a:solidFill>
                  <a:srgbClr val="D7191C"/>
                </a:solidFill>
              </a:defRPr>
            </a:pPr>
            <a:r>
              <a:t>Sensory Distractors (A1)           4.6σ</a:t>
            </a:r>
          </a:p>
        </p:txBody>
      </p:sp>
      <p:sp>
        <p:nvSpPr>
          <p:cNvPr id="8" name="TextBox 7"/>
          <p:cNvSpPr txBox="1"/>
          <p:nvPr/>
        </p:nvSpPr>
        <p:spPr>
          <a:xfrm>
            <a:off x="731520" y="5486400"/>
            <a:ext cx="10698480" cy="3657600"/>
          </a:xfrm>
          <a:prstGeom prst="rect">
            <a:avLst/>
          </a:prstGeom>
          <a:noFill/>
        </p:spPr>
        <p:txBody>
          <a:bodyPr wrap="square">
            <a:spAutoFit/>
          </a:bodyPr>
          <a:lstStyle/>
          <a:p>
            <a:pPr>
              <a:spcAft>
                <a:spcPts val="800"/>
              </a:spcAft>
              <a:defRPr sz="1600" b="0">
                <a:solidFill>
                  <a:srgbClr val="FDAE61"/>
                </a:solidFill>
              </a:defRPr>
            </a:pPr>
            <a:r>
              <a:t>Common thread: broken symmetries involve salience manipulation;</a:t>
            </a:r>
          </a:p>
          <a:p>
            <a:pPr>
              <a:spcAft>
                <a:spcPts val="800"/>
              </a:spcAft>
              <a:defRPr sz="1600" b="0">
                <a:solidFill>
                  <a:srgbClr val="FDAE61"/>
                </a:solidFill>
              </a:defRPr>
            </a:pPr>
            <a:r>
              <a:t>preserved ones do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The Sycophancy Gradient</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Wrong-correction flip rate: 0% (Claude) to 56% (Flash 2.5)</a:t>
            </a:r>
          </a:p>
        </p:txBody>
      </p:sp>
      <p:sp>
        <p:nvSpPr>
          <p:cNvPr id="4" name="TextBox 3"/>
          <p:cNvSpPr txBox="1"/>
          <p:nvPr/>
        </p:nvSpPr>
        <p:spPr>
          <a:xfrm>
            <a:off x="731520" y="2560320"/>
            <a:ext cx="10698480" cy="3657600"/>
          </a:xfrm>
          <a:prstGeom prst="rect">
            <a:avLst/>
          </a:prstGeom>
          <a:noFill/>
        </p:spPr>
        <p:txBody>
          <a:bodyPr wrap="square">
            <a:spAutoFit/>
          </a:bodyPr>
          <a:lstStyle/>
          <a:p>
            <a:pPr>
              <a:spcAft>
                <a:spcPts val="800"/>
              </a:spcAft>
              <a:defRPr sz="1800" b="0">
                <a:solidFill>
                  <a:srgbClr val="E0E0E0"/>
                </a:solidFill>
              </a:defRPr>
            </a:pPr>
            <a:r>
              <a:t>Model                Wrong Flip    Sycophancy Index    Confidence</a:t>
            </a:r>
          </a:p>
          <a:p>
            <a:pPr>
              <a:spcAft>
                <a:spcPts val="800"/>
              </a:spcAft>
              <a:defRPr sz="1800" b="0">
                <a:solidFill>
                  <a:srgbClr val="E0E0E0"/>
                </a:solidFill>
              </a:defRPr>
            </a:pPr>
            <a:r>
              <a:t>─────────────────────────────────────────────────────────────────</a:t>
            </a:r>
          </a:p>
          <a:p>
            <a:pPr>
              <a:spcAft>
                <a:spcPts val="800"/>
              </a:spcAft>
              <a:defRPr sz="1800" b="0">
                <a:solidFill>
                  <a:srgbClr val="E0E0E0"/>
                </a:solidFill>
              </a:defRPr>
            </a:pPr>
            <a:r>
              <a:t>Claude Sonnet 4.6      0%  ←        0.000              t = +2.83  (rejects)</a:t>
            </a:r>
          </a:p>
          <a:p>
            <a:pPr>
              <a:spcAft>
                <a:spcPts val="800"/>
              </a:spcAft>
              <a:defRPr sz="1800" b="0">
                <a:solidFill>
                  <a:srgbClr val="E0E0E0"/>
                </a:solidFill>
              </a:defRPr>
            </a:pPr>
            <a:r>
              <a:t>Gemini 2.0 Flash      33%           0.472              t = −2.12  (suspicious)</a:t>
            </a:r>
          </a:p>
          <a:p>
            <a:pPr>
              <a:spcAft>
                <a:spcPts val="800"/>
              </a:spcAft>
              <a:defRPr sz="1800" b="0">
                <a:solidFill>
                  <a:srgbClr val="E0E0E0"/>
                </a:solidFill>
              </a:defRPr>
            </a:pPr>
            <a:r>
              <a:t>Gemini 2.5 Pro        44%           0.657              t = −0.80  (indifferent)</a:t>
            </a:r>
          </a:p>
          <a:p>
            <a:pPr>
              <a:spcAft>
                <a:spcPts val="800"/>
              </a:spcAft>
              <a:defRPr sz="1800" b="0">
                <a:solidFill>
                  <a:srgbClr val="E0E0E0"/>
                </a:solidFill>
              </a:defRPr>
            </a:pPr>
            <a:r>
              <a:t>Gemini 2.5 Flash      56%  →        0.726              t = +0.41  (accepts)</a:t>
            </a:r>
          </a:p>
        </p:txBody>
      </p:sp>
      <p:sp>
        <p:nvSpPr>
          <p:cNvPr id="5" name="TextBox 4"/>
          <p:cNvSpPr txBox="1"/>
          <p:nvPr/>
        </p:nvSpPr>
        <p:spPr>
          <a:xfrm>
            <a:off x="731520" y="5303520"/>
            <a:ext cx="10698480" cy="3657600"/>
          </a:xfrm>
          <a:prstGeom prst="rect">
            <a:avLst/>
          </a:prstGeom>
          <a:noFill/>
        </p:spPr>
        <p:txBody>
          <a:bodyPr wrap="square">
            <a:spAutoFit/>
          </a:bodyPr>
          <a:lstStyle/>
          <a:p>
            <a:pPr>
              <a:spcAft>
                <a:spcPts val="800"/>
              </a:spcAft>
              <a:defRPr sz="2000" b="1">
                <a:solidFill>
                  <a:srgbClr val="D7191C"/>
                </a:solidFill>
              </a:defRPr>
            </a:pPr>
            <a:r>
              <a:t>Fisher combined across 4 models: 13.3σ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No Model Dominates All Dimensions</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Each model has a distinct robustness profile</a:t>
            </a:r>
          </a:p>
        </p:txBody>
      </p:sp>
      <p:sp>
        <p:nvSpPr>
          <p:cNvPr id="4" name="TextBox 3"/>
          <p:cNvSpPr txBox="1"/>
          <p:nvPr/>
        </p:nvSpPr>
        <p:spPr>
          <a:xfrm>
            <a:off x="731520" y="2743200"/>
            <a:ext cx="10698480" cy="3657600"/>
          </a:xfrm>
          <a:prstGeom prst="rect">
            <a:avLst/>
          </a:prstGeom>
          <a:noFill/>
        </p:spPr>
        <p:txBody>
          <a:bodyPr wrap="square">
            <a:spAutoFit/>
          </a:bodyPr>
          <a:lstStyle/>
          <a:p>
            <a:pPr>
              <a:spcAft>
                <a:spcPts val="800"/>
              </a:spcAft>
              <a:defRPr sz="2000" b="0">
                <a:solidFill>
                  <a:srgbClr val="E0E0E0"/>
                </a:solidFill>
              </a:defRPr>
            </a:pPr>
            <a:r>
              <a:t>Claude       Best sycophancy (0%) — Worst divided attention (0.571)</a:t>
            </a:r>
          </a:p>
          <a:p>
            <a:pPr>
              <a:spcAft>
                <a:spcPts val="800"/>
              </a:spcAft>
              <a:defRPr sz="2000" b="0">
                <a:solidFill>
                  <a:srgbClr val="E0E0E0"/>
                </a:solidFill>
              </a:defRPr>
            </a:pPr>
            <a:r>
              <a:t>Flash 2.0    Best recovery (73%) — Worst working memory (0.710)</a:t>
            </a:r>
          </a:p>
          <a:p>
            <a:pPr>
              <a:spcAft>
                <a:spcPts val="800"/>
              </a:spcAft>
              <a:defRPr sz="2000" b="0">
                <a:solidFill>
                  <a:srgbClr val="E0E0E0"/>
                </a:solidFill>
              </a:defRPr>
            </a:pPr>
            <a:r>
              <a:t>Pro 2.5      Best counterfactual (75%) — Moderate sycophancy (44%)</a:t>
            </a:r>
          </a:p>
          <a:p>
            <a:pPr>
              <a:spcAft>
                <a:spcPts val="800"/>
              </a:spcAft>
              <a:defRPr sz="2000" b="0">
                <a:solidFill>
                  <a:srgbClr val="E0E0E0"/>
                </a:solidFill>
              </a:defRPr>
            </a:pPr>
            <a:r>
              <a:t>Flash 2.5    Worst sycophancy (56%) — Best working memory (0.900)</a:t>
            </a:r>
          </a:p>
        </p:txBody>
      </p:sp>
      <p:sp>
        <p:nvSpPr>
          <p:cNvPr id="5" name="TextBox 4"/>
          <p:cNvSpPr txBox="1"/>
          <p:nvPr/>
        </p:nvSpPr>
        <p:spPr>
          <a:xfrm>
            <a:off x="731520" y="5029200"/>
            <a:ext cx="10698480" cy="3657600"/>
          </a:xfrm>
          <a:prstGeom prst="rect">
            <a:avLst/>
          </a:prstGeom>
          <a:noFill/>
        </p:spPr>
        <p:txBody>
          <a:bodyPr wrap="square">
            <a:spAutoFit/>
          </a:bodyPr>
          <a:lstStyle/>
          <a:p>
            <a:pPr>
              <a:spcAft>
                <a:spcPts val="800"/>
              </a:spcAft>
              <a:defRPr sz="1800" b="0">
                <a:solidFill>
                  <a:srgbClr val="FDAE61"/>
                </a:solidFill>
              </a:defRPr>
            </a:pPr>
            <a:r>
              <a:t>A single "robustness score" describes none of them accurately.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The ~38% Recovery Ceiling</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Prompt-level metacognitive intervention succeeds only one-third of the time</a:t>
            </a:r>
          </a:p>
        </p:txBody>
      </p:sp>
      <p:sp>
        <p:nvSpPr>
          <p:cNvPr id="4" name="TextBox 3"/>
          <p:cNvSpPr txBox="1"/>
          <p:nvPr/>
        </p:nvSpPr>
        <p:spPr>
          <a:xfrm>
            <a:off x="731520" y="2560320"/>
            <a:ext cx="10698480" cy="3657600"/>
          </a:xfrm>
          <a:prstGeom prst="rect">
            <a:avLst/>
          </a:prstGeom>
          <a:noFill/>
        </p:spPr>
        <p:txBody>
          <a:bodyPr wrap="square">
            <a:spAutoFit/>
          </a:bodyPr>
          <a:lstStyle/>
          <a:p>
            <a:pPr>
              <a:spcAft>
                <a:spcPts val="800"/>
              </a:spcAft>
              <a:defRPr sz="2000" b="0">
                <a:solidFill>
                  <a:srgbClr val="E0E0E0"/>
                </a:solidFill>
              </a:defRPr>
            </a:pPr>
            <a:r>
              <a:t>Emotional Anchoring (E2):   mean recovery = 38%</a:t>
            </a:r>
          </a:p>
          <a:p>
            <a:pPr>
              <a:spcAft>
                <a:spcPts val="800"/>
              </a:spcAft>
              <a:defRPr sz="2000" b="0">
                <a:solidFill>
                  <a:srgbClr val="E0E0E0"/>
                </a:solidFill>
              </a:defRPr>
            </a:pPr>
            <a:r>
              <a:t>Distractor Warning (A1):    mean recovery = 39%</a:t>
            </a:r>
          </a:p>
          <a:p>
            <a:pPr>
              <a:spcAft>
                <a:spcPts val="800"/>
              </a:spcAft>
              <a:defRPr sz="2000" b="0">
                <a:solidFill>
                  <a:srgbClr val="E0E0E0"/>
                </a:solidFill>
              </a:defRPr>
            </a:pPr>
          </a:p>
          <a:p>
            <a:pPr>
              <a:spcAft>
                <a:spcPts val="800"/>
              </a:spcAft>
              <a:defRPr sz="2000" b="0">
                <a:solidFill>
                  <a:srgbClr val="E0E0E0"/>
                </a:solidFill>
              </a:defRPr>
            </a:pPr>
            <a:r>
              <a:t>Different perturbation types → same ceiling</a:t>
            </a:r>
          </a:p>
          <a:p>
            <a:pPr>
              <a:spcAft>
                <a:spcPts val="800"/>
              </a:spcAft>
              <a:defRPr sz="2000" b="0">
                <a:solidFill>
                  <a:srgbClr val="E0E0E0"/>
                </a:solidFill>
              </a:defRPr>
            </a:pPr>
          </a:p>
          <a:p>
            <a:pPr>
              <a:spcAft>
                <a:spcPts val="800"/>
              </a:spcAft>
              <a:defRPr sz="2000" b="0">
                <a:solidFill>
                  <a:srgbClr val="E0E0E0"/>
                </a:solidFill>
              </a:defRPr>
            </a:pPr>
            <a:r>
              <a:t>Implication: prompt engineering alone</a:t>
            </a:r>
          </a:p>
          <a:p>
            <a:pPr>
              <a:spcAft>
                <a:spcPts val="800"/>
              </a:spcAft>
              <a:defRPr sz="2000" b="0">
                <a:solidFill>
                  <a:srgbClr val="E0E0E0"/>
                </a:solidFill>
              </a:defRPr>
            </a:pPr>
            <a:r>
              <a:t>cannot fix invariance failures.</a:t>
            </a:r>
          </a:p>
          <a:p>
            <a:pPr>
              <a:spcAft>
                <a:spcPts val="800"/>
              </a:spcAft>
              <a:defRPr sz="2000" b="0">
                <a:solidFill>
                  <a:srgbClr val="E0E0E0"/>
                </a:solidFill>
              </a:defRPr>
            </a:pPr>
            <a:r>
              <a:t>Architectural interventions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Systematic Overconfidence: 9.3σ</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Every model tested reports confidence that exceeds its accuracy</a:t>
            </a:r>
          </a:p>
        </p:txBody>
      </p:sp>
      <p:sp>
        <p:nvSpPr>
          <p:cNvPr id="4" name="TextBox 3"/>
          <p:cNvSpPr txBox="1"/>
          <p:nvPr/>
        </p:nvSpPr>
        <p:spPr>
          <a:xfrm>
            <a:off x="731520" y="2560320"/>
            <a:ext cx="10698480" cy="3657600"/>
          </a:xfrm>
          <a:prstGeom prst="rect">
            <a:avLst/>
          </a:prstGeom>
          <a:noFill/>
        </p:spPr>
        <p:txBody>
          <a:bodyPr wrap="square">
            <a:spAutoFit/>
          </a:bodyPr>
          <a:lstStyle/>
          <a:p>
            <a:pPr>
              <a:spcAft>
                <a:spcPts val="800"/>
              </a:spcAft>
              <a:defRPr sz="1800" b="0">
                <a:solidFill>
                  <a:srgbClr val="E0E0E0"/>
                </a:solidFill>
              </a:defRPr>
            </a:pPr>
            <a:r>
              <a:t>Model              ECE      Sigma</a:t>
            </a:r>
          </a:p>
          <a:p>
            <a:pPr>
              <a:spcAft>
                <a:spcPts val="800"/>
              </a:spcAft>
              <a:defRPr sz="1800" b="0">
                <a:solidFill>
                  <a:srgbClr val="E0E0E0"/>
                </a:solidFill>
              </a:defRPr>
            </a:pPr>
            <a:r>
              <a:t>────────────────────────────────────</a:t>
            </a:r>
          </a:p>
          <a:p>
            <a:pPr>
              <a:spcAft>
                <a:spcPts val="800"/>
              </a:spcAft>
              <a:defRPr sz="1800" b="0">
                <a:solidFill>
                  <a:srgbClr val="E0E0E0"/>
                </a:solidFill>
              </a:defRPr>
            </a:pPr>
            <a:r>
              <a:t>Flash 2.0          0.414    5.8σ</a:t>
            </a:r>
          </a:p>
          <a:p>
            <a:pPr>
              <a:spcAft>
                <a:spcPts val="800"/>
              </a:spcAft>
              <a:defRPr sz="1800" b="0">
                <a:solidFill>
                  <a:srgbClr val="E0E0E0"/>
                </a:solidFill>
              </a:defRPr>
            </a:pPr>
            <a:r>
              <a:t>Flash 2.5          0.415    7.0σ</a:t>
            </a:r>
          </a:p>
          <a:p>
            <a:pPr>
              <a:spcAft>
                <a:spcPts val="800"/>
              </a:spcAft>
              <a:defRPr sz="1800" b="0">
                <a:solidFill>
                  <a:srgbClr val="E0E0E0"/>
                </a:solidFill>
              </a:defRPr>
            </a:pPr>
            <a:r>
              <a:t>Flash 3            0.333    4.5σ</a:t>
            </a:r>
          </a:p>
          <a:p>
            <a:pPr>
              <a:spcAft>
                <a:spcPts val="800"/>
              </a:spcAft>
              <a:defRPr sz="1800" b="0">
                <a:solidFill>
                  <a:srgbClr val="E0E0E0"/>
                </a:solidFill>
              </a:defRPr>
            </a:pPr>
            <a:r>
              <a:t>Pro 2.5            0.230    2.5σ</a:t>
            </a:r>
          </a:p>
          <a:p>
            <a:pPr>
              <a:spcAft>
                <a:spcPts val="800"/>
              </a:spcAft>
              <a:defRPr sz="1800" b="0">
                <a:solidFill>
                  <a:srgbClr val="E0E0E0"/>
                </a:solidFill>
              </a:defRPr>
            </a:pPr>
            <a:r>
              <a:t>Claude (cross-fam) 0.250     —</a:t>
            </a:r>
          </a:p>
          <a:p>
            <a:pPr>
              <a:spcAft>
                <a:spcPts val="800"/>
              </a:spcAft>
              <a:defRPr sz="1800" b="0">
                <a:solidFill>
                  <a:srgbClr val="E0E0E0"/>
                </a:solidFill>
              </a:defRPr>
            </a:pPr>
            <a:r>
              <a:t>────────────────────────────────────</a:t>
            </a:r>
          </a:p>
          <a:p>
            <a:pPr>
              <a:spcAft>
                <a:spcPts val="800"/>
              </a:spcAft>
              <a:defRPr sz="1800" b="0">
                <a:solidFill>
                  <a:srgbClr val="E0E0E0"/>
                </a:solidFill>
              </a:defRPr>
            </a:pPr>
            <a:r>
              <a:t>Fisher combined            9.3σ</a:t>
            </a:r>
          </a:p>
        </p:txBody>
      </p:sp>
      <p:sp>
        <p:nvSpPr>
          <p:cNvPr id="5" name="TextBox 4"/>
          <p:cNvSpPr txBox="1"/>
          <p:nvPr/>
        </p:nvSpPr>
        <p:spPr>
          <a:xfrm>
            <a:off x="731520" y="5486400"/>
            <a:ext cx="10698480" cy="3657600"/>
          </a:xfrm>
          <a:prstGeom prst="rect">
            <a:avLst/>
          </a:prstGeom>
          <a:noFill/>
        </p:spPr>
        <p:txBody>
          <a:bodyPr wrap="square">
            <a:spAutoFit/>
          </a:bodyPr>
          <a:lstStyle/>
          <a:p>
            <a:pPr>
              <a:spcAft>
                <a:spcPts val="800"/>
              </a:spcAft>
              <a:defRPr sz="1600" b="0">
                <a:solidFill>
                  <a:srgbClr val="FDAE61"/>
                </a:solidFill>
              </a:defRPr>
            </a:pPr>
            <a:r>
              <a:t>Calibration improves with model scale, but all remain overconfident.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Methodology: What Makes This Rigorous</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Empirical stochastic controls, three-tier data, separation of concerns</a:t>
            </a:r>
          </a:p>
        </p:txBody>
      </p:sp>
      <p:sp>
        <p:nvSpPr>
          <p:cNvPr id="4" name="TextBox 3"/>
          <p:cNvSpPr txBox="1"/>
          <p:nvPr/>
        </p:nvSpPr>
        <p:spPr>
          <a:xfrm>
            <a:off x="731520" y="2560320"/>
            <a:ext cx="10698480" cy="3657600"/>
          </a:xfrm>
          <a:prstGeom prst="rect">
            <a:avLst/>
          </a:prstGeom>
          <a:noFill/>
        </p:spPr>
        <p:txBody>
          <a:bodyPr wrap="square">
            <a:spAutoFit/>
          </a:bodyPr>
          <a:lstStyle/>
          <a:p>
            <a:pPr>
              <a:spcAft>
                <a:spcPts val="800"/>
              </a:spcAft>
              <a:defRPr sz="1800" b="0">
                <a:solidFill>
                  <a:srgbClr val="E0E0E0"/>
                </a:solidFill>
              </a:defRPr>
            </a:pPr>
            <a:r>
              <a:t>1. Empirical Stochastic Controls</a:t>
            </a:r>
          </a:p>
          <a:p>
            <a:pPr>
              <a:spcAft>
                <a:spcPts val="800"/>
              </a:spcAft>
              <a:defRPr sz="1800" b="0">
                <a:solidFill>
                  <a:srgbClr val="E0E0E0"/>
                </a:solidFill>
              </a:defRPr>
            </a:pPr>
            <a:r>
              <a:t>   Test against the model's own noise, not null=0</a:t>
            </a:r>
          </a:p>
          <a:p>
            <a:pPr>
              <a:spcAft>
                <a:spcPts val="800"/>
              </a:spcAft>
              <a:defRPr sz="1800" b="0">
                <a:solidFill>
                  <a:srgbClr val="E0E0E0"/>
                </a:solidFill>
              </a:defRPr>
            </a:pPr>
            <a:r>
              <a:t>   (&gt;6σ effects vanished under proper controls)</a:t>
            </a:r>
          </a:p>
          <a:p>
            <a:pPr>
              <a:spcAft>
                <a:spcPts val="800"/>
              </a:spcAft>
              <a:defRPr sz="1800" b="0">
                <a:solidFill>
                  <a:srgbClr val="E0E0E0"/>
                </a:solidFill>
              </a:defRPr>
            </a:pPr>
          </a:p>
          <a:p>
            <a:pPr>
              <a:spcAft>
                <a:spcPts val="800"/>
              </a:spcAft>
              <a:defRPr sz="1800" b="0">
                <a:solidFill>
                  <a:srgbClr val="E0E0E0"/>
                </a:solidFill>
              </a:defRPr>
            </a:pPr>
            <a:r>
              <a:t>2. Separation of Concerns</a:t>
            </a:r>
          </a:p>
          <a:p>
            <a:pPr>
              <a:spcAft>
                <a:spcPts val="800"/>
              </a:spcAft>
              <a:defRPr sz="1800" b="0">
                <a:solidFill>
                  <a:srgbClr val="E0E0E0"/>
                </a:solidFill>
              </a:defRPr>
            </a:pPr>
            <a:r>
              <a:t>   Fixed transformer generates stimuli; test models only judge</a:t>
            </a:r>
          </a:p>
          <a:p>
            <a:pPr>
              <a:spcAft>
                <a:spcPts val="800"/>
              </a:spcAft>
              <a:defRPr sz="1800" b="0">
                <a:solidFill>
                  <a:srgbClr val="E0E0E0"/>
                </a:solidFill>
              </a:defRPr>
            </a:pPr>
          </a:p>
          <a:p>
            <a:pPr>
              <a:spcAft>
                <a:spcPts val="800"/>
              </a:spcAft>
              <a:defRPr sz="1800" b="0">
                <a:solidFill>
                  <a:srgbClr val="E0E0E0"/>
                </a:solidFill>
              </a:defRPr>
            </a:pPr>
            <a:r>
              <a:t>3. Three-Tier Data Architecture</a:t>
            </a:r>
          </a:p>
          <a:p>
            <a:pPr>
              <a:spcAft>
                <a:spcPts val="800"/>
              </a:spcAft>
              <a:defRPr sz="1800" b="0">
                <a:solidFill>
                  <a:srgbClr val="E0E0E0"/>
                </a:solidFill>
              </a:defRPr>
            </a:pPr>
            <a:r>
              <a:t>   Gold (hand-audited) → Probe (synthetic) → Generated (AITA/Dear Abby)</a:t>
            </a:r>
          </a:p>
          <a:p>
            <a:pPr>
              <a:spcAft>
                <a:spcPts val="800"/>
              </a:spcAft>
              <a:defRPr sz="1800" b="0">
                <a:solidFill>
                  <a:srgbClr val="E0E0E0"/>
                </a:solidFill>
              </a:defRPr>
            </a:pPr>
          </a:p>
          <a:p>
            <a:pPr>
              <a:spcAft>
                <a:spcPts val="800"/>
              </a:spcAft>
              <a:defRPr sz="1800" b="0">
                <a:solidFill>
                  <a:srgbClr val="E0E0E0"/>
                </a:solidFill>
              </a:defRPr>
            </a:pPr>
            <a:r>
              <a:t>5 models × 2 families × 5 tracks ≈ 8,000 API calls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Implications for Alignment</a:t>
            </a:r>
          </a:p>
        </p:txBody>
      </p:sp>
      <p:sp>
        <p:nvSpPr>
          <p:cNvPr id="3" name="TextBox 2"/>
          <p:cNvSpPr txBox="1"/>
          <p:nvPr/>
        </p:nvSpPr>
        <p:spPr>
          <a:xfrm>
            <a:off x="731520" y="2377440"/>
            <a:ext cx="10698480" cy="3657600"/>
          </a:xfrm>
          <a:prstGeom prst="rect">
            <a:avLst/>
          </a:prstGeom>
          <a:noFill/>
        </p:spPr>
        <p:txBody>
          <a:bodyPr wrap="square">
            <a:spAutoFit/>
          </a:bodyPr>
          <a:lstStyle/>
          <a:p>
            <a:pPr>
              <a:spcAft>
                <a:spcPts val="800"/>
              </a:spcAft>
              <a:defRPr sz="2200" b="0">
                <a:solidFill>
                  <a:srgbClr val="E0E0E0"/>
                </a:solidFill>
              </a:defRPr>
            </a:pPr>
            <a:r>
              <a:t>1. Invariance failures are selective, not total</a:t>
            </a:r>
          </a:p>
          <a:p>
            <a:pPr>
              <a:spcAft>
                <a:spcPts val="800"/>
              </a:spcAft>
              <a:defRPr sz="2200" b="0">
                <a:solidFill>
                  <a:srgbClr val="E0E0E0"/>
                </a:solidFill>
              </a:defRPr>
            </a:pPr>
            <a:r>
              <a:t>   → Targeted interventions are possible</a:t>
            </a:r>
          </a:p>
          <a:p>
            <a:pPr>
              <a:spcAft>
                <a:spcPts val="800"/>
              </a:spcAft>
              <a:defRPr sz="2200" b="0">
                <a:solidFill>
                  <a:srgbClr val="E0E0E0"/>
                </a:solidFill>
              </a:defRPr>
            </a:pPr>
          </a:p>
          <a:p>
            <a:pPr>
              <a:spcAft>
                <a:spcPts val="800"/>
              </a:spcAft>
              <a:defRPr sz="2200" b="0">
                <a:solidFill>
                  <a:srgbClr val="E0E0E0"/>
                </a:solidFill>
              </a:defRPr>
            </a:pPr>
            <a:r>
              <a:t>2. Sycophancy is addressable (Claude: 0% wrong flip)</a:t>
            </a:r>
          </a:p>
          <a:p>
            <a:pPr>
              <a:spcAft>
                <a:spcPts val="800"/>
              </a:spcAft>
              <a:defRPr sz="2200" b="0">
                <a:solidFill>
                  <a:srgbClr val="E0E0E0"/>
                </a:solidFill>
              </a:defRPr>
            </a:pPr>
            <a:r>
              <a:t>   → But fixing one vulnerability doesn't fix all</a:t>
            </a:r>
          </a:p>
          <a:p>
            <a:pPr>
              <a:spcAft>
                <a:spcPts val="800"/>
              </a:spcAft>
              <a:defRPr sz="2200" b="0">
                <a:solidFill>
                  <a:srgbClr val="E0E0E0"/>
                </a:solidFill>
              </a:defRPr>
            </a:pPr>
          </a:p>
          <a:p>
            <a:pPr>
              <a:spcAft>
                <a:spcPts val="800"/>
              </a:spcAft>
              <a:defRPr sz="2200" b="0">
                <a:solidFill>
                  <a:srgbClr val="E0E0E0"/>
                </a:solidFill>
              </a:defRPr>
            </a:pPr>
            <a:r>
              <a:t>3. Prompt engineering has a ceiling (~38% recovery)</a:t>
            </a:r>
          </a:p>
          <a:p>
            <a:pPr>
              <a:spcAft>
                <a:spcPts val="800"/>
              </a:spcAft>
              <a:defRPr sz="2200" b="0">
                <a:solidFill>
                  <a:srgbClr val="E0E0E0"/>
                </a:solidFill>
              </a:defRPr>
            </a:pPr>
            <a:r>
              <a:t>   → Architectural interventions needed for the rest</a:t>
            </a:r>
          </a:p>
          <a:p>
            <a:pPr>
              <a:spcAft>
                <a:spcPts val="800"/>
              </a:spcAft>
              <a:defRPr sz="2200" b="0">
                <a:solidFill>
                  <a:srgbClr val="E0E0E0"/>
                </a:solidFill>
              </a:defRPr>
            </a:pPr>
          </a:p>
          <a:p>
            <a:pPr>
              <a:spcAft>
                <a:spcPts val="800"/>
              </a:spcAft>
              <a:defRPr sz="2200" b="0">
                <a:solidFill>
                  <a:srgbClr val="E0E0E0"/>
                </a:solidFill>
              </a:defRPr>
            </a:pPr>
            <a:r>
              <a:t>The question is not "how robust is this model?"</a:t>
            </a:r>
          </a:p>
          <a:p>
            <a:pPr>
              <a:spcAft>
                <a:spcPts val="800"/>
              </a:spcAft>
              <a:defRPr sz="2200" b="0">
                <a:solidFill>
                  <a:srgbClr val="E0E0E0"/>
                </a:solidFill>
              </a:defRPr>
            </a:pPr>
            <a:r>
              <a:t>but "which invariances does it preserve,</a:t>
            </a:r>
          </a:p>
          <a:p>
            <a:pPr>
              <a:spcAft>
                <a:spcPts val="800"/>
              </a:spcAft>
              <a:defRPr sz="2200" b="0">
                <a:solidFill>
                  <a:srgbClr val="E0E0E0"/>
                </a:solidFill>
              </a:defRPr>
            </a:pPr>
            <a:r>
              <a:t>and which does it violate?"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Looking Ahead: Reasoning as A* on a Manifold</a:t>
            </a:r>
          </a:p>
        </p:txBody>
      </p:sp>
      <p:sp>
        <p:nvSpPr>
          <p:cNvPr id="3" name="TextBox 2"/>
          <p:cNvSpPr txBox="1"/>
          <p:nvPr/>
        </p:nvSpPr>
        <p:spPr>
          <a:xfrm>
            <a:off x="731520" y="1554480"/>
            <a:ext cx="10698480" cy="731520"/>
          </a:xfrm>
          <a:prstGeom prst="rect">
            <a:avLst/>
          </a:prstGeom>
          <a:noFill/>
        </p:spPr>
        <p:txBody>
          <a:bodyPr wrap="square">
            <a:spAutoFit/>
          </a:bodyPr>
          <a:lstStyle/>
          <a:p>
            <a:pPr algn="l">
              <a:defRPr sz="2000">
                <a:solidFill>
                  <a:srgbClr val="999999"/>
                </a:solidFill>
              </a:defRPr>
            </a:pPr>
            <a:r>
              <a:t>From moral judgment geometry to a general theory of geometric reasoning</a:t>
            </a:r>
          </a:p>
        </p:txBody>
      </p:sp>
      <p:sp>
        <p:nvSpPr>
          <p:cNvPr id="4" name="TextBox 3"/>
          <p:cNvSpPr txBox="1"/>
          <p:nvPr/>
        </p:nvSpPr>
        <p:spPr>
          <a:xfrm>
            <a:off x="731520" y="2560320"/>
            <a:ext cx="10698480" cy="3657600"/>
          </a:xfrm>
          <a:prstGeom prst="rect">
            <a:avLst/>
          </a:prstGeom>
          <a:noFill/>
        </p:spPr>
        <p:txBody>
          <a:bodyPr wrap="square">
            <a:spAutoFit/>
          </a:bodyPr>
          <a:lstStyle/>
          <a:p>
            <a:pPr>
              <a:spcAft>
                <a:spcPts val="800"/>
              </a:spcAft>
              <a:defRPr sz="2000" b="0">
                <a:solidFill>
                  <a:srgbClr val="E0E0E0"/>
                </a:solidFill>
              </a:defRPr>
            </a:pPr>
            <a:r>
              <a:t>Reasoning = informed search on a structured space</a:t>
            </a:r>
          </a:p>
          <a:p>
            <a:pPr>
              <a:spcAft>
                <a:spcPts val="800"/>
              </a:spcAft>
              <a:defRPr sz="2000" b="0">
                <a:solidFill>
                  <a:srgbClr val="E0E0E0"/>
                </a:solidFill>
              </a:defRPr>
            </a:pPr>
          </a:p>
          <a:p>
            <a:pPr>
              <a:spcAft>
                <a:spcPts val="800"/>
              </a:spcAft>
              <a:defRPr sz="2000" b="0">
                <a:solidFill>
                  <a:srgbClr val="E0E0E0"/>
                </a:solidFill>
              </a:defRPr>
            </a:pPr>
            <a:r>
              <a:t>Good reasoning   →  follows geodesics</a:t>
            </a:r>
          </a:p>
          <a:p>
            <a:pPr>
              <a:spcAft>
                <a:spcPts val="800"/>
              </a:spcAft>
              <a:defRPr sz="2000" b="0">
                <a:solidFill>
                  <a:srgbClr val="E0E0E0"/>
                </a:solidFill>
              </a:defRPr>
            </a:pPr>
            <a:r>
              <a:t>Bad reasoning    →  warped heuristic, wrong objective,</a:t>
            </a:r>
          </a:p>
          <a:p>
            <a:pPr>
              <a:spcAft>
                <a:spcPts val="800"/>
              </a:spcAft>
              <a:defRPr sz="2000" b="0">
                <a:solidFill>
                  <a:srgbClr val="E0E0E0"/>
                </a:solidFill>
              </a:defRPr>
            </a:pPr>
            <a:r>
              <a:t>                      unstable geometry</a:t>
            </a:r>
          </a:p>
          <a:p>
            <a:pPr>
              <a:spcAft>
                <a:spcPts val="800"/>
              </a:spcAft>
              <a:defRPr sz="2000" b="0">
                <a:solidFill>
                  <a:srgbClr val="E0E0E0"/>
                </a:solidFill>
              </a:defRPr>
            </a:pPr>
          </a:p>
          <a:p>
            <a:pPr>
              <a:spcAft>
                <a:spcPts val="800"/>
              </a:spcAft>
              <a:defRPr sz="2000" b="0">
                <a:solidFill>
                  <a:srgbClr val="E0E0E0"/>
                </a:solidFill>
              </a:defRPr>
            </a:pPr>
            <a:r>
              <a:t>Every failure mode we measured is a geometric pathology:</a:t>
            </a:r>
          </a:p>
          <a:p>
            <a:pPr>
              <a:spcAft>
                <a:spcPts val="800"/>
              </a:spcAft>
              <a:defRPr sz="2000" b="0">
                <a:solidFill>
                  <a:srgbClr val="E0E0E0"/>
                </a:solidFill>
              </a:defRPr>
            </a:pPr>
            <a:r>
              <a:t>  Framing      →  heuristic corruption</a:t>
            </a:r>
          </a:p>
          <a:p>
            <a:pPr>
              <a:spcAft>
                <a:spcPts val="800"/>
              </a:spcAft>
              <a:defRPr sz="2000" b="0">
                <a:solidFill>
                  <a:srgbClr val="E0E0E0"/>
                </a:solidFill>
              </a:defRPr>
            </a:pPr>
            <a:r>
              <a:t>  Sycophancy   →  proxy-goal capture</a:t>
            </a:r>
          </a:p>
          <a:p>
            <a:pPr>
              <a:spcAft>
                <a:spcPts val="800"/>
              </a:spcAft>
              <a:defRPr sz="2000" b="0">
                <a:solidFill>
                  <a:srgbClr val="E0E0E0"/>
                </a:solidFill>
              </a:defRPr>
            </a:pPr>
            <a:r>
              <a:t>  Overconfidence → collapsed confidence surface</a:t>
            </a:r>
          </a:p>
          <a:p>
            <a:pPr>
              <a:spcAft>
                <a:spcPts val="800"/>
              </a:spcAft>
              <a:defRPr sz="2000" b="0">
                <a:solidFill>
                  <a:srgbClr val="E0E0E0"/>
                </a:solidFill>
              </a:defRPr>
            </a:pPr>
            <a:r>
              <a:t>  Recovery ceiling → metacognitive control limit</a:t>
            </a:r>
          </a:p>
        </p:txBody>
      </p:sp>
      <p:sp>
        <p:nvSpPr>
          <p:cNvPr id="5" name="TextBox 4"/>
          <p:cNvSpPr txBox="1"/>
          <p:nvPr/>
        </p:nvSpPr>
        <p:spPr>
          <a:xfrm>
            <a:off x="731520" y="5943600"/>
            <a:ext cx="10698480" cy="3657600"/>
          </a:xfrm>
          <a:prstGeom prst="rect">
            <a:avLst/>
          </a:prstGeom>
          <a:noFill/>
        </p:spPr>
        <p:txBody>
          <a:bodyPr wrap="square">
            <a:spAutoFit/>
          </a:bodyPr>
          <a:lstStyle/>
          <a:p>
            <a:pPr>
              <a:spcAft>
                <a:spcPts val="800"/>
              </a:spcAft>
              <a:defRPr sz="1400" b="0">
                <a:solidFill>
                  <a:srgbClr val="666666"/>
                </a:solidFill>
              </a:defRPr>
            </a:pPr>
            <a:r>
              <a:t>Bond (2026). Geometric Methods in Computational Modeling. SJSU.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161D"/>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l">
              <a:defRPr sz="4000" b="1">
                <a:solidFill>
                  <a:srgbClr val="E0E0E0"/>
                </a:solidFill>
              </a:defRPr>
            </a:pPr>
            <a:r>
              <a:t>Thank You</a:t>
            </a:r>
          </a:p>
        </p:txBody>
      </p:sp>
      <p:sp>
        <p:nvSpPr>
          <p:cNvPr id="3" name="TextBox 2"/>
          <p:cNvSpPr txBox="1"/>
          <p:nvPr/>
        </p:nvSpPr>
        <p:spPr>
          <a:xfrm>
            <a:off x="731520" y="2286000"/>
            <a:ext cx="10698480" cy="3657600"/>
          </a:xfrm>
          <a:prstGeom prst="rect">
            <a:avLst/>
          </a:prstGeom>
          <a:noFill/>
        </p:spPr>
        <p:txBody>
          <a:bodyPr wrap="square">
            <a:spAutoFit/>
          </a:bodyPr>
          <a:lstStyle/>
          <a:p>
            <a:pPr>
              <a:spcAft>
                <a:spcPts val="800"/>
              </a:spcAft>
              <a:defRPr sz="2000" b="0">
                <a:solidFill>
                  <a:srgbClr val="999999"/>
                </a:solidFill>
              </a:defRPr>
            </a:pPr>
            <a:r>
              <a:t>Andrew H. Bond</a:t>
            </a:r>
          </a:p>
          <a:p>
            <a:pPr>
              <a:spcAft>
                <a:spcPts val="800"/>
              </a:spcAft>
              <a:defRPr sz="2000" b="0">
                <a:solidFill>
                  <a:srgbClr val="999999"/>
                </a:solidFill>
              </a:defRPr>
            </a:pPr>
            <a:r>
              <a:t>San Jose State University</a:t>
            </a:r>
          </a:p>
          <a:p>
            <a:pPr>
              <a:spcAft>
                <a:spcPts val="800"/>
              </a:spcAft>
              <a:defRPr sz="2000" b="0">
                <a:solidFill>
                  <a:srgbClr val="999999"/>
                </a:solidFill>
              </a:defRPr>
            </a:pPr>
            <a:r>
              <a:t>Department of Computer Engineering</a:t>
            </a:r>
          </a:p>
          <a:p>
            <a:pPr>
              <a:spcAft>
                <a:spcPts val="800"/>
              </a:spcAft>
              <a:defRPr sz="2000" b="0">
                <a:solidFill>
                  <a:srgbClr val="999999"/>
                </a:solidFill>
              </a:defRPr>
            </a:pPr>
            <a:r>
              <a:t>agi.hpc@gmail.com</a:t>
            </a:r>
          </a:p>
          <a:p>
            <a:pPr>
              <a:spcAft>
                <a:spcPts val="800"/>
              </a:spcAft>
              <a:defRPr sz="2000" b="0">
                <a:solidFill>
                  <a:srgbClr val="999999"/>
                </a:solidFill>
              </a:defRPr>
            </a:pPr>
          </a:p>
          <a:p>
            <a:pPr>
              <a:spcAft>
                <a:spcPts val="800"/>
              </a:spcAft>
              <a:defRPr sz="2000" b="0">
                <a:solidFill>
                  <a:srgbClr val="999999"/>
                </a:solidFill>
              </a:defRPr>
            </a:pPr>
            <a:r>
              <a:t>Lucas Thiele</a:t>
            </a:r>
          </a:p>
          <a:p>
            <a:pPr>
              <a:spcAft>
                <a:spcPts val="800"/>
              </a:spcAft>
              <a:defRPr sz="2000" b="0">
                <a:solidFill>
                  <a:srgbClr val="999999"/>
                </a:solidFill>
              </a:defRPr>
            </a:pPr>
            <a:r>
              <a:t>UCLA Cognitive Science</a:t>
            </a:r>
          </a:p>
          <a:p>
            <a:pPr>
              <a:spcAft>
                <a:spcPts val="800"/>
              </a:spcAft>
              <a:defRPr sz="2000" b="0">
                <a:solidFill>
                  <a:srgbClr val="999999"/>
                </a:solidFill>
              </a:defRPr>
            </a:pPr>
          </a:p>
          <a:p>
            <a:pPr>
              <a:spcAft>
                <a:spcPts val="800"/>
              </a:spcAft>
              <a:defRPr sz="2000" b="0">
                <a:solidFill>
                  <a:srgbClr val="999999"/>
                </a:solidFill>
              </a:defRPr>
            </a:pPr>
            <a:r>
              <a:t>Benchmark code available on Kaggle Benchmarks</a:t>
            </a:r>
          </a:p>
          <a:p>
            <a:pPr>
              <a:spcAft>
                <a:spcPts val="800"/>
              </a:spcAft>
              <a:defRPr sz="2000" b="0">
                <a:solidFill>
                  <a:srgbClr val="999999"/>
                </a:solidFill>
              </a:defRPr>
            </a:pPr>
            <a:r>
              <a:t>Paper: "Selective Invariance Violations in LLM Moral Judgment"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